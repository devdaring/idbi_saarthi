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Google Sans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font" Target="fonts/GoogleSans-regular.fntdata"/><Relationship Id="rId22" Type="http://schemas.openxmlformats.org/officeDocument/2006/relationships/font" Target="fonts/GoogleSans-bold.fntdata"/><Relationship Id="rId23" Type="http://schemas.openxmlformats.org/officeDocument/2006/relationships/font" Target="fonts/GoogleSans-italic.fntdata"/><Relationship Id="rId24" Type="http://schemas.openxmlformats.org/officeDocument/2006/relationships/font" Target="fonts/Google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d00c6239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d00c6239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d00c62399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d00c6239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d00c623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d00c623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d00c6239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d00c6239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d00c62399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d00c62399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d00c6239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d00c623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d00c6239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d00c6239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00c62399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d00c62399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d00c6239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ed00c6239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ed00c62399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ed00c62399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d00c62399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d00c62399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5f7cbdba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f5f7cbdba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ed00c62399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ed00c62399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ed00c62399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ed00c62399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ed00c623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ed00c623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IDBI banner deck 1.png"/>
          <p:cNvPicPr preferRelativeResize="0"/>
          <p:nvPr/>
        </p:nvPicPr>
        <p:blipFill rotWithShape="1">
          <a:blip r:embed="rId3">
            <a:alphaModFix/>
          </a:blip>
          <a:srcRect b="40681" l="0" r="0" t="0"/>
          <a:stretch/>
        </p:blipFill>
        <p:spPr>
          <a:xfrm>
            <a:off x="0" y="0"/>
            <a:ext cx="9144000" cy="30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46600" y="3260725"/>
            <a:ext cx="8760000" cy="16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/>
              <a:t>Team Details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name: </a:t>
            </a:r>
            <a:r>
              <a:rPr sz="1500" b="0">
                <a:solidFill>
                  <a:srgbClr val="1F2937"/>
                </a:solidFill>
                <a:latin typeface="Arial"/>
              </a:rPr>
              <a:t>SAARTHI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Team leader name: </a:t>
            </a:r>
            <a:r>
              <a:rPr sz="1500" b="0">
                <a:solidFill>
                  <a:srgbClr val="1F2937"/>
                </a:solidFill>
                <a:latin typeface="Arial"/>
              </a:rPr>
              <a:t>Koushik Deb  (solo team)</a:t>
            </a:r>
            <a:endParaRPr b="1"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AutoNum type="alphaLcPeriod"/>
            </a:pPr>
            <a:r>
              <a:rPr b="1" lang="en-GB" sz="1500"/>
              <a:t>Problem Statement: </a:t>
            </a:r>
            <a:r>
              <a:rPr sz="1500" b="0">
                <a:solidFill>
                  <a:srgbClr val="1F2937"/>
                </a:solidFill>
                <a:latin typeface="Arial"/>
              </a:rPr>
              <a:t>Default Prediction Model  (Track 04)</a:t>
            </a:r>
            <a:endParaRPr b="1"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Brief about the idea</a:t>
            </a:r>
            <a:endParaRPr b="1"/>
          </a:p>
        </p:txBody>
      </p:sp>
      <p:pic>
        <p:nvPicPr>
          <p:cNvPr id="62" name="Google Shape;62;p1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TextBox 62"/>
          <p:cNvSpPr txBox="1"/>
          <p:nvPr/>
        </p:nvSpPr>
        <p:spPr>
          <a:xfrm>
            <a:off x="411480" y="1417320"/>
            <a:ext cx="8321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SAARTHI turns an MSME loan book into a 12-month early-warning system.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It answers three questions for every borrower: </a:t>
            </a:r>
            <a:r>
              <a:rPr sz="1200" b="1">
                <a:solidFill>
                  <a:srgbClr val="1F2937"/>
                </a:solidFill>
                <a:latin typeface="Arial"/>
              </a:rPr>
              <a:t>who is likely to default, how soon, and the single change that measurably lowers that risk.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The design rule: </a:t>
            </a:r>
            <a:r>
              <a:rPr sz="1200" b="0">
                <a:solidFill>
                  <a:srgbClr val="1F2937"/>
                </a:solidFill>
                <a:latin typeface="Arial"/>
              </a:rPr>
              <a:t>the ML model owns every number (probability of default, SHAP drivers, the projected effect of any remedy). The language model owns only words — it picks a code from a fixed 10-item taxonomy and writes the explanation. A second model from a different family then audits that explanation against the SHAP evidence, so nothing reaching a credit officer is invented.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0">
                <a:solidFill>
                  <a:srgbClr val="1F2937"/>
                </a:solidFill>
                <a:latin typeface="Arial"/>
              </a:rPr>
              <a:t>Unlike a static scorecard, SAARTHI ships pre-trained on 3.3M public loans and then fine-tunes on the lender's own book in minutes — on-premise, with no data leaving the bank.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65350" y="744575"/>
            <a:ext cx="8943000" cy="10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Opportunities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different is it from any of the other existing ideas?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How will it be able to solve the problem?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USP of the proposed solution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68" name="Google Shape;68;p1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11480" y="1417320"/>
            <a:ext cx="8321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How is it different from existing ideas?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Arial"/>
              </a:rPr>
              <a:t>Credit AI today is either accurate but opaque, or explainable but weak. SAARTHI separates the two jobs: numbers come from a calibrated model, words from an LLM, and an </a:t>
            </a:r>
            <a:r>
              <a:rPr sz="1150" b="1">
                <a:solidFill>
                  <a:srgbClr val="1F2937"/>
                </a:solidFill>
                <a:latin typeface="Arial"/>
              </a:rPr>
              <a:t>independent faithfulness judge</a:t>
            </a:r>
            <a:r>
              <a:rPr sz="1150" b="0">
                <a:solidFill>
                  <a:srgbClr val="1F2937"/>
                </a:solidFill>
                <a:latin typeface="Arial"/>
              </a:rPr>
              <a:t> verifies the words against the model's own SHAP evidence before a human sees them.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How will it solve the problem?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Arial"/>
              </a:rPr>
              <a:t>Defaults are detected at 90+ DPD, when recovery options have closed. SAARTHI flags the risk up to 12 months earlier and pairs each alert with a grounded counterfactual — extend tenure, add collateral, restructure rate — searched on the model itself, not invented by an LLM.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B45309"/>
                </a:solidFill>
                <a:latin typeface="Arial"/>
              </a:rPr>
              <a:t>USP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0">
                <a:solidFill>
                  <a:srgbClr val="1F2937"/>
                </a:solidFill>
                <a:latin typeface="Arial"/>
              </a:rPr>
              <a:t>Every explanation is machine-verified, every recommended action carries a model-computed post-action PD, protected attributes never enter the model but are audited for bias, and the whole system runs inside the bank's own environment.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List of features offered by the solution</a:t>
            </a:r>
            <a:endParaRPr b="1"/>
          </a:p>
        </p:txBody>
      </p:sp>
      <p:pic>
        <p:nvPicPr>
          <p:cNvPr id="75" name="Google Shape;75;p1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TextBox 76"/>
          <p:cNvSpPr txBox="1"/>
          <p:nvPr/>
        </p:nvSpPr>
        <p:spPr>
          <a:xfrm>
            <a:off x="411480" y="1417320"/>
            <a:ext cx="8321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Automatic column mapping</a:t>
            </a:r>
            <a:r>
              <a:rPr sz="1100" b="0">
                <a:solidFill>
                  <a:srgbClr val="1F2937"/>
                </a:solidFill>
                <a:latin typeface="Arial"/>
              </a:rPr>
              <a:t> — upload any loan book; an LLM maps your columns onto a canonical schema, with a deterministic fallback and user confirmation.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Calibrated probability of default</a:t>
            </a:r>
            <a:r>
              <a:rPr sz="1100" b="0">
                <a:solidFill>
                  <a:srgbClr val="1F2937"/>
                </a:solidFill>
                <a:latin typeface="Arial"/>
              </a:rPr>
              <a:t> — isotonic-calibrated, so the score is a real probability, not a rank.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12-month risk curve</a:t>
            </a:r>
            <a:r>
              <a:rPr sz="1100" b="0">
                <a:solidFill>
                  <a:srgbClr val="1F2937"/>
                </a:solidFill>
                <a:latin typeface="Arial"/>
              </a:rPr>
              <a:t> — survival model shapes when risk accrues; flags the month the borrower crosses the alert threshold.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Verified reason codes</a:t>
            </a:r>
            <a:r>
              <a:rPr sz="1100" b="0">
                <a:solidFill>
                  <a:srgbClr val="1F2937"/>
                </a:solidFill>
                <a:latin typeface="Arial"/>
              </a:rPr>
              <a:t> — fixed 10-code taxonomy grounded in SHAP, checked by an independent judge model for invented factors and flipped signs.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Actionable recourse</a:t>
            </a:r>
            <a:r>
              <a:rPr sz="1100" b="0">
                <a:solidFill>
                  <a:srgbClr val="1F2937"/>
                </a:solidFill>
                <a:latin typeface="Arial"/>
              </a:rPr>
              <a:t> — greedy counterfactual search over actionable levers only, returning the projected PD after the change.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Difference-aware fairness audit</a:t>
            </a:r>
            <a:r>
              <a:rPr sz="1100" b="0">
                <a:solidFill>
                  <a:srgbClr val="1F2937"/>
                </a:solidFill>
                <a:latin typeface="Arial"/>
              </a:rPr>
              <a:t> — protected attributes are never model inputs; disparities are flagged only when they persist among same-risk applicants.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Transaction-as-language</a:t>
            </a:r>
            <a:r>
              <a:rPr sz="1100" b="0">
                <a:solidFill>
                  <a:srgbClr val="1F2937"/>
                </a:solidFill>
                <a:latin typeface="Arial"/>
              </a:rPr>
              <a:t> — a self-supervised encoder reads raw transaction narration sequences, adding signal where curated fields are sparse.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Full transparency</a:t>
            </a:r>
            <a:r>
              <a:rPr sz="1100" b="0">
                <a:solidFill>
                  <a:srgbClr val="1F2937"/>
                </a:solidFill>
                <a:latin typeface="Arial"/>
              </a:rPr>
              <a:t> — live model trace showing which provider and model answered, and whether each explanation passed its judge.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Process flow diagram or Use-case diagram</a:t>
            </a:r>
            <a:endParaRPr b="1"/>
          </a:p>
        </p:txBody>
      </p:sp>
      <p:pic>
        <p:nvPicPr>
          <p:cNvPr id="82" name="Google Shape;82;p1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Picture 83" descr="process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39" y="1371600"/>
            <a:ext cx="8046720" cy="34600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Wireframes/Mock diagrams of the proposed solution (optional)</a:t>
            </a:r>
            <a:endParaRPr b="1"/>
          </a:p>
        </p:txBody>
      </p:sp>
      <p:pic>
        <p:nvPicPr>
          <p:cNvPr id="89" name="Google Shape;89;p18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Architecture diagram of the proposed solution</a:t>
            </a:r>
            <a:endParaRPr b="1"/>
          </a:p>
        </p:txBody>
      </p:sp>
      <p:pic>
        <p:nvPicPr>
          <p:cNvPr id="96" name="Google Shape;96;p19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Picture 97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371600"/>
            <a:ext cx="6949440" cy="3474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Technologies to be used in the solution</a:t>
            </a:r>
            <a:endParaRPr b="1"/>
          </a:p>
        </p:txBody>
      </p:sp>
      <p:pic>
        <p:nvPicPr>
          <p:cNvPr id="103" name="Google Shape;103;p20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0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TextBox 104"/>
          <p:cNvSpPr txBox="1"/>
          <p:nvPr/>
        </p:nvSpPr>
        <p:spPr>
          <a:xfrm>
            <a:off x="411480" y="1417320"/>
            <a:ext cx="8321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B45309"/>
                </a:solidFill>
                <a:latin typeface="Arial"/>
              </a:rPr>
              <a:t>Machine learning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LightGBM · XGBoost · CatBoost ensemble, isotonic calibration (scikit-learn) · SHAP TreeExplainer · lifelines (Cox survival) · fairlearn (bias audit) · PyTorch (CoLES transaction-sequence encoder)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B45309"/>
                </a:solidFill>
                <a:latin typeface="Arial"/>
              </a:rPr>
              <a:t>Language models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Multi-provider gateway over an OpenAI-compatible interface — DeepSeek, Mistral, OpenRouter, Gemini — with role-based fallback chains, key rotation and a cross-family judge. AWS Bedrock adapter for in-bank deployment.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B45309"/>
                </a:solidFill>
                <a:latin typeface="Arial"/>
              </a:rPr>
              <a:t>Application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Backend: Python 3.11, Flask, Gunicorn, pandas/polars, pydantic. Frontend: React 18, TypeScript, Vite, TailwindCSS, Recharts. Serving: Caddy with automatic HTTPS, systemd, Linux VPS.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B45309"/>
                </a:solidFill>
                <a:latin typeface="Arial"/>
              </a:rPr>
              <a:t>Training data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Nine public credit corpora — SBA, Lending Club, Home Credit, Give Me Some Credit, Taiwan, German, Berka, Amex, IBM TabFormer. No bank data was used at any stage.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Estimated implementation cost (optional)</a:t>
            </a:r>
            <a:endParaRPr b="1"/>
          </a:p>
        </p:txBody>
      </p:sp>
      <p:pic>
        <p:nvPicPr>
          <p:cNvPr id="110" name="Google Shape;110;p21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1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TextBox 111"/>
          <p:cNvSpPr txBox="1"/>
          <p:nvPr/>
        </p:nvSpPr>
        <p:spPr>
          <a:xfrm>
            <a:off x="411480" y="1417320"/>
            <a:ext cx="8321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200" b="1">
                <a:solidFill>
                  <a:srgbClr val="1F2937"/>
                </a:solidFill>
                <a:latin typeface="Arial"/>
              </a:rPr>
              <a:t>Prototype built end-to-end for under one US dollar.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400" b="0">
                <a:solidFill>
                  <a:srgbClr val="1F2937"/>
                </a:solidFill>
                <a:latin typeface="Arial"/>
              </a:rPr>
              <a:t/>
            </a:r>
          </a:p>
        </p:txBody>
      </p:sp>
      <p:graphicFrame>
        <p:nvGraphicFramePr>
          <p:cNvPr id="113" name="Table 112"/>
          <p:cNvGraphicFramePr>
            <a:graphicFrameLocks noGrp="1"/>
          </p:cNvGraphicFramePr>
          <p:nvPr/>
        </p:nvGraphicFramePr>
        <p:xfrm>
          <a:off x="640080" y="1965960"/>
          <a:ext cx="7863839" cy="1426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089"/>
                <a:gridCol w="2201875"/>
                <a:gridCol w="2201875"/>
              </a:tblGrid>
              <a:tr h="23774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Item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Spec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Cost</a:t>
                      </a:r>
                    </a:p>
                  </a:txBody>
                  <a:tcPr marT="12700" marB="12700"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GPU (sequence encoder training)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RTX 2080 Ti, vast.ai, ~1 h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$0.08</a:t>
                      </a:r>
                    </a:p>
                  </a:txBody>
                  <a:tcPr marT="12700" marB="12700"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CPU training (all other models)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existing 32-core VPS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$0.00</a:t>
                      </a:r>
                    </a:p>
                  </a:txBody>
                  <a:tcPr marT="12700" marB="12700"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Datasets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9 public corpora, ~15 GB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$0.00</a:t>
                      </a:r>
                    </a:p>
                  </a:txBody>
                  <a:tcPr marT="12700" marB="12700"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Hosting (demo)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VPS + Caddy, automatic HTTPS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existing</a:t>
                      </a:r>
                    </a:p>
                  </a:txBody>
                  <a:tcPr marT="12700" marB="12700"/>
                </a:tc>
              </a:tr>
              <a:tr h="23774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LLM inference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free-tier / low-cost API keys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&lt; $1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114" name="TextBox 113"/>
          <p:cNvSpPr txBox="1"/>
          <p:nvPr/>
        </p:nvSpPr>
        <p:spPr>
          <a:xfrm>
            <a:off x="411480" y="3703320"/>
            <a:ext cx="83210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1F2937"/>
                </a:solidFill>
                <a:latin typeface="Arial"/>
              </a:rPr>
              <a:t>Production estimate (per bank):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Inference is CPU-only and runs on-premise; a single mid-size VM scores a 150,000-loan portfolio per run. The only recurring cost is LLM inference for explanations, which is bounded by generating them for the top-risk loans eagerly and the rest lazily on demand.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2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Snapshots of the prototype</a:t>
            </a:r>
            <a:endParaRPr b="1"/>
          </a:p>
        </p:txBody>
      </p:sp>
      <p:pic>
        <p:nvPicPr>
          <p:cNvPr id="117" name="Google Shape;117;p22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Picture 118" descr="05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63040"/>
            <a:ext cx="4023360" cy="2514600"/>
          </a:xfrm>
          <a:prstGeom prst="rect">
            <a:avLst/>
          </a:prstGeom>
        </p:spPr>
      </p:pic>
      <p:pic>
        <p:nvPicPr>
          <p:cNvPr id="120" name="Picture 119" descr="06_loan_det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1463040"/>
            <a:ext cx="4023360" cy="251460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411480" y="4617720"/>
            <a:ext cx="8321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0">
                <a:solidFill>
                  <a:srgbClr val="444E5E"/>
                </a:solidFill>
                <a:latin typeface="Arial"/>
              </a:rPr>
              <a:t>Live at https://koushikdeb.duckdns.org — portfolio dashboard (left) and per-loan reasoning with verified reason codes, 12-month risk curve and recommended recourse (right).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Prototype Performance report/Benchmarking</a:t>
            </a:r>
            <a:endParaRPr b="1"/>
          </a:p>
        </p:txBody>
      </p:sp>
      <p:pic>
        <p:nvPicPr>
          <p:cNvPr id="124" name="Google Shape;124;p23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3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TextBox 125"/>
          <p:cNvSpPr txBox="1"/>
          <p:nvPr/>
        </p:nvSpPr>
        <p:spPr>
          <a:xfrm>
            <a:off x="411480" y="1371600"/>
            <a:ext cx="83210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All figures on an untouched test fold. </a:t>
            </a:r>
            <a:r>
              <a:rPr sz="1050" b="0">
                <a:solidFill>
                  <a:srgbClr val="1F2937"/>
                </a:solidFill>
                <a:latin typeface="Arial"/>
              </a:rPr>
              <a:t>Data is split three ways — 60% fit / 15% calibrate / 25% test — so the isotonic calibrator never sees the fold used to report calibration error. Reporting ECE on the calibrator's own fold (a common shortcut) drives it artificially to zero.</a:t>
            </a:r>
          </a:p>
        </p:txBody>
      </p:sp>
      <p:graphicFrame>
        <p:nvGraphicFramePr>
          <p:cNvPr id="127" name="Table 126"/>
          <p:cNvGraphicFramePr>
            <a:graphicFrameLocks noGrp="1"/>
          </p:cNvGraphicFramePr>
          <p:nvPr/>
        </p:nvGraphicFramePr>
        <p:xfrm>
          <a:off x="640080" y="2057400"/>
          <a:ext cx="7863837" cy="1719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3705"/>
                <a:gridCol w="1730044"/>
                <a:gridCol w="1730044"/>
                <a:gridCol w="1730044"/>
              </a:tblGrid>
              <a:tr h="21488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Dataset (public benchmark)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Test AUC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ECE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937"/>
                          </a:solidFill>
                          <a:latin typeface="Arial"/>
                        </a:rPr>
                        <a:t>Published ref.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Sba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0.9800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0.0015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~0.95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Amex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0.9580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0.0050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~0.96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Gmsc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0.8522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0.0041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~0.87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Taiwan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0.7698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0.0074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~0.78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Home Credit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0.7632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0.0011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0.805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Lending Club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0.7263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0.0024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0.70-0.73</a:t>
                      </a:r>
                    </a:p>
                  </a:txBody>
                  <a:tcPr marT="12700" marB="12700"/>
                </a:tc>
              </a:tr>
              <a:tr h="214884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Pooled global model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0.8605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0.0018</a:t>
                      </a:r>
                    </a:p>
                  </a:txBody>
                  <a:tcPr marT="12700" marB="12700"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937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T="12700" marB="12700"/>
                </a:tc>
              </a:tr>
            </a:tbl>
          </a:graphicData>
        </a:graphic>
      </p:graphicFrame>
      <p:sp>
        <p:nvSpPr>
          <p:cNvPr id="128" name="TextBox 127"/>
          <p:cNvSpPr txBox="1"/>
          <p:nvPr/>
        </p:nvSpPr>
        <p:spPr>
          <a:xfrm>
            <a:off x="411480" y="3977639"/>
            <a:ext cx="8321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1F2937"/>
                </a:solidFill>
                <a:latin typeface="Arial"/>
              </a:rPr>
              <a:t>Transaction-as-language ablation: </a:t>
            </a:r>
            <a:r>
              <a:rPr sz="1000" b="0">
                <a:solidFill>
                  <a:srgbClr val="1F2937"/>
                </a:solidFill>
                <a:latin typeface="Arial"/>
              </a:rPr>
              <a:t>on Berka (16 tabular features) the sequence embedding adds +0.0267 AUC (0.8575 → 0.8842); on Amex (941 engineered features) it adds nothing — it substitutes for feature engineering rather than adding to it.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00" b="1">
                <a:solidFill>
                  <a:srgbClr val="1F2937"/>
                </a:solidFill>
                <a:latin typeface="Arial"/>
              </a:rPr>
              <a:t>Cross-domain transfer (negative result): </a:t>
            </a:r>
            <a:r>
              <a:rPr sz="1000" b="0">
                <a:solidFill>
                  <a:srgbClr val="1F2937"/>
                </a:solidFill>
                <a:latin typeface="Arial"/>
              </a:rPr>
              <a:t>leave-one-dataset-out mean AUC 0.5377 — a single pooled model does not transfer across lending domains, which is why SAARTHI fine-tunes on the lender's own book.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Additional Details</a:t>
            </a:r>
            <a:r>
              <a:rPr b="1" lang="en-GB"/>
              <a:t>/Future Development (</a:t>
            </a:r>
            <a:r>
              <a:rPr b="1" lang="en-GB"/>
              <a:t>if any)</a:t>
            </a:r>
            <a:endParaRPr b="1"/>
          </a:p>
        </p:txBody>
      </p:sp>
      <p:pic>
        <p:nvPicPr>
          <p:cNvPr id="131" name="Google Shape;131;p24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TextBox 132"/>
          <p:cNvSpPr txBox="1"/>
          <p:nvPr/>
        </p:nvSpPr>
        <p:spPr>
          <a:xfrm>
            <a:off x="411480" y="1417320"/>
            <a:ext cx="8321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B45309"/>
                </a:solidFill>
                <a:latin typeface="Arial"/>
              </a:rPr>
              <a:t>Ready for the IDBI sandbox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The pipeline is already written against IDBI's published API schemas — API 402 (DPD / NPA status) supplies the training label, API 393 (statement with narration) feeds the sequence encoder, and APIs 391 / 408 / 441 / 442 / 362 supply loan, bureau, limit and lien features.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400" b="0">
                <a:solidFill>
                  <a:srgbClr val="1F2937"/>
                </a:solidFill>
                <a:latin typeface="Arial"/>
              </a:rPr>
              <a:t/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1">
                <a:solidFill>
                  <a:srgbClr val="B45309"/>
                </a:solidFill>
                <a:latin typeface="Arial"/>
              </a:rPr>
              <a:t>Next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GST-behavioural features — filing delays, turnover trend, ITC mismatch, customer concentration — modelled on the Bank's own schema.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Public-domain digital signals for thin-file MSMEs, gated by an explicit borrower-consent flag under the DPDP Act, 2023.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AWS Bedrock adapter so explanation and judging run entirely inside the Bank's VPC.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00" b="0">
                <a:solidFill>
                  <a:srgbClr val="1F2937"/>
                </a:solidFill>
                <a:latin typeface="Arial"/>
              </a:rPr>
              <a:t>• Portfolio-level what-if: simulate a policy change and see the projected shift in expected credit loss.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25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/>
        </p:nvSpPr>
        <p:spPr>
          <a:xfrm>
            <a:off x="265350" y="74457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Improvements done during the 2nd P</a:t>
            </a: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rototype</a:t>
            </a:r>
            <a:r>
              <a:rPr b="1" lang="en-GB" sz="1800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 phase</a:t>
            </a:r>
            <a:endParaRPr b="1"/>
          </a:p>
        </p:txBody>
      </p:sp>
      <p:sp>
        <p:nvSpPr>
          <p:cNvPr id="140" name="TextBox 139"/>
          <p:cNvSpPr txBox="1"/>
          <p:nvPr/>
        </p:nvSpPr>
        <p:spPr>
          <a:xfrm>
            <a:off x="411480" y="1417320"/>
            <a:ext cx="832104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Trained a real model.</a:t>
            </a:r>
            <a:r>
              <a:rPr sz="1050" b="0">
                <a:solidFill>
                  <a:srgbClr val="1F2937"/>
                </a:solidFill>
                <a:latin typeface="Arial"/>
              </a:rPr>
              <a:t> Phase 1 trained only on whatever file was uploaded. SAARTHI now ships pre-trained on 3.3M loans across nine public corpora and fine-tunes on the lender's book.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Fixed a calibration-evaluation flaw.</a:t>
            </a:r>
            <a:r>
              <a:rPr sz="1050" b="0">
                <a:solidFill>
                  <a:srgbClr val="1F2937"/>
                </a:solidFill>
                <a:latin typeface="Arial"/>
              </a:rPr>
              <a:t> The earlier build fitted the isotonic calibrator and measured calibration error on the same fold, which understates it. Now a strict three-way split; every reported number comes from data neither the model nor the calibrator has seen.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Found and removed a data leak.</a:t>
            </a:r>
            <a:r>
              <a:rPr sz="1050" b="0">
                <a:solidFill>
                  <a:srgbClr val="1F2937"/>
                </a:solidFill>
                <a:latin typeface="Arial"/>
              </a:rPr>
              <a:t> On the Berka corpus, 71% of an account's transactions post-date the loan and encode the outcome, giving a false AUC of 1.0000. Aggregation is now restricted to pre-origination activity; the honest figure is 0.8558.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Built transaction-as-language.</a:t>
            </a:r>
            <a:r>
              <a:rPr sz="1050" b="0">
                <a:solidFill>
                  <a:srgbClr val="1F2937"/>
                </a:solidFill>
                <a:latin typeface="Arial"/>
              </a:rPr>
              <a:t> A self-supervised contrastive encoder trained on 13.25M transaction events; on a frozen embedding alone a linear probe reaches 0.8717 AUC.</a:t>
            </a:r>
          </a:p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050" b="1">
                <a:solidFill>
                  <a:srgbClr val="1F2937"/>
                </a:solidFill>
                <a:latin typeface="Arial"/>
              </a:rPr>
              <a:t>Verified rather than assumed.</a:t>
            </a:r>
            <a:r>
              <a:rPr sz="1050" b="0">
                <a:solidFill>
                  <a:srgbClr val="1F2937"/>
                </a:solidFill>
                <a:latin typeface="Arial"/>
              </a:rPr>
              <a:t> Ensembling correlated boosters was measured, found to add nothing (−0.0029 AUC), and reported as such.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265350" y="744575"/>
            <a:ext cx="8943000" cy="12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Provide links to your: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GitHub Public Repository</a:t>
            </a:r>
            <a:r>
              <a:rPr sz="1500" b="0">
                <a:solidFill>
                  <a:srgbClr val="1D4ED8"/>
                </a:solidFill>
                <a:latin typeface="Arial"/>
              </a:rPr>
              <a:t>:  https://github.com/DevDaring/IDBI_SAARTHI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Demo Video Link (3 Minutes)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GB"/>
              <a:t>Final Product Link</a:t>
            </a:r>
            <a:r>
              <a:rPr sz="1500" b="0">
                <a:solidFill>
                  <a:srgbClr val="1D4ED8"/>
                </a:solidFill>
                <a:latin typeface="Arial"/>
              </a:rPr>
              <a:t>:  https://koushikdeb.duckdns.org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45" name="Google Shape;145;p26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TextBox 146"/>
          <p:cNvSpPr txBox="1"/>
          <p:nvPr/>
        </p:nvSpPr>
        <p:spPr>
          <a:xfrm>
            <a:off x="411480" y="2240280"/>
            <a:ext cx="83210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1F2937"/>
                </a:solidFill>
                <a:latin typeface="Arial"/>
              </a:rPr>
              <a:t>Trained models (public): </a:t>
            </a:r>
            <a:r>
              <a:rPr sz="1150" b="0">
                <a:solidFill>
                  <a:srgbClr val="1D4ED8"/>
                </a:solidFill>
                <a:latin typeface="Arial"/>
              </a:rPr>
              <a:t>https://huggingface.co/Debk/saarthi-default-prediction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7" title="IDBI banner deck 2.png"/>
          <p:cNvPicPr preferRelativeResize="0"/>
          <p:nvPr/>
        </p:nvPicPr>
        <p:blipFill rotWithShape="1">
          <a:blip r:embed="rId3">
            <a:alphaModFix/>
          </a:blip>
          <a:srcRect b="88462" l="0" r="0" t="0"/>
          <a:stretch/>
        </p:blipFill>
        <p:spPr>
          <a:xfrm>
            <a:off x="0" y="0"/>
            <a:ext cx="9144000" cy="593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7" title="IDBI banner deck 2.png"/>
          <p:cNvPicPr preferRelativeResize="0"/>
          <p:nvPr/>
        </p:nvPicPr>
        <p:blipFill rotWithShape="1">
          <a:blip r:embed="rId3">
            <a:alphaModFix/>
          </a:blip>
          <a:srcRect b="0" l="0" r="0" t="98077"/>
          <a:stretch/>
        </p:blipFill>
        <p:spPr>
          <a:xfrm>
            <a:off x="0" y="5044576"/>
            <a:ext cx="9144000" cy="9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9" name="Google Shape;159;p28" title="IDBI banner deck 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