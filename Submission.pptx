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C62A4C9-E6F5-4BCA-A8B3-52ACA7B33D2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B809DBD-991A-44BE-9A05-77FA6DF6C25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DB2167E-9995-4431-9642-187BFE919C5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F5B59B2-DA59-478D-9CDC-4FEC5F6E6324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29F310-FD8E-4362-AFBB-84B6C23C8E3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B876CDA-27F6-47B2-9B41-574755864D3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20F72BB-A302-4934-B44C-8640401420F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3840EAD-885B-4456-A734-06A48F19467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B8B9AA7-826C-4A4E-8A55-6847C85530A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7E03BF3-7394-4C63-BE42-2AC7F1596699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C61F9A4-CD35-49A4-B49F-A58C95E34CF2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68AE175-2B03-4505-BA08-7E10A432472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GB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7330679-12BA-40EF-B05B-B8440F604BBD}" type="slidenum">
              <a:rPr b="0" lang="en-GB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file:///home/Debz/Hackathon/IDBI_Hackathon/:  https://github.com/DevDaring/IDBI_SAARTHI" TargetMode="External"/><Relationship Id="rId2" Type="http://schemas.openxmlformats.org/officeDocument/2006/relationships/hyperlink" Target="file:///home/Debz/Hackathon/IDBI_Hackathon/:  https://youtu.be/-HglTjzO5qc" TargetMode="External"/><Relationship Id="rId3" Type="http://schemas.openxmlformats.org/officeDocument/2006/relationships/hyperlink" Target="file:///home/Debz/Hackathon/IDBI_Hackathon/:  https://koushikdeb.duckdns.org" TargetMode="External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54;p13" descr=""/>
          <p:cNvPicPr/>
          <p:nvPr/>
        </p:nvPicPr>
        <p:blipFill>
          <a:blip r:embed="rId1"/>
          <a:srcRect l="0" t="0" r="0" b="40675"/>
          <a:stretch/>
        </p:blipFill>
        <p:spPr>
          <a:xfrm>
            <a:off x="0" y="0"/>
            <a:ext cx="9143640" cy="305064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55;p13"/>
          <p:cNvSpPr/>
          <p:nvPr/>
        </p:nvSpPr>
        <p:spPr>
          <a:xfrm>
            <a:off x="146520" y="3260880"/>
            <a:ext cx="8759520" cy="16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Team Details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Team name: </a:t>
            </a:r>
            <a:r>
              <a:rPr b="0" lang="en-GB" sz="1500" spc="-1" strike="noStrike">
                <a:solidFill>
                  <a:srgbClr val="1f2937"/>
                </a:solidFill>
                <a:latin typeface="Arial"/>
                <a:ea typeface="Arial"/>
              </a:rPr>
              <a:t>  SAARTHI</a:t>
            </a:r>
            <a:endParaRPr b="0" lang="en-US" sz="15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Team leader name: </a:t>
            </a:r>
            <a:r>
              <a:rPr b="0" lang="en-GB" sz="1500" spc="-1" strike="noStrike">
                <a:solidFill>
                  <a:srgbClr val="1f2937"/>
                </a:solidFill>
                <a:latin typeface="Arial"/>
                <a:ea typeface="Arial"/>
              </a:rPr>
              <a:t>  Koushik Deb</a:t>
            </a:r>
            <a:endParaRPr b="0" lang="en-US" sz="1500" spc="-1" strike="noStrike"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  <a:tabLst>
                <a:tab algn="l" pos="0"/>
              </a:tabLst>
            </a:pPr>
            <a:r>
              <a:rPr b="1" lang="en-GB" sz="1500" spc="-1" strike="noStrike">
                <a:solidFill>
                  <a:srgbClr val="000000"/>
                </a:solidFill>
                <a:latin typeface="Arial"/>
                <a:ea typeface="Arial"/>
              </a:rPr>
              <a:t>Problem Statement: </a:t>
            </a:r>
            <a:r>
              <a:rPr b="0" lang="en-GB" sz="1500" spc="-1" strike="noStrike">
                <a:solidFill>
                  <a:srgbClr val="1f2937"/>
                </a:solidFill>
                <a:latin typeface="Arial"/>
                <a:ea typeface="Arial"/>
              </a:rPr>
              <a:t>  Default Prediction Model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60;p14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sp>
        <p:nvSpPr>
          <p:cNvPr id="42" name="Google Shape;61;p14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Brief about the idea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43" name="Google Shape;62;p14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44" name="TextBox 62"/>
          <p:cNvSpPr/>
          <p:nvPr/>
        </p:nvSpPr>
        <p:spPr>
          <a:xfrm>
            <a:off x="365760" y="1417320"/>
            <a:ext cx="8412120" cy="19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400" spc="-1" strike="noStrike">
                <a:solidFill>
                  <a:srgbClr val="1f2937"/>
                </a:solidFill>
                <a:latin typeface="Arial"/>
                <a:ea typeface="Arial"/>
              </a:rPr>
              <a:t>SAARTHI is an MSME loan default early-warning system. A lender uploads a loan dataset (CSV); SAARTHI auto-maps the columns, trains a calibrated model, and for every loan predicts the probability of default over the next 12 months.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0" lang="en-US" sz="1400" spc="-1" strike="noStrike">
                <a:solidFill>
                  <a:srgbClr val="1f2937"/>
                </a:solidFill>
                <a:latin typeface="Arial"/>
                <a:ea typeface="Arial"/>
              </a:rPr>
              <a:t>But it never stops at a number. Each loan comes with a plain-English reason, a recommended action to reduce the risk, and a fairness check — and every explanation is verified by a second AI, so it cannot make things up.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1" lang="en-US" sz="1400" spc="-1" strike="noStrike">
                <a:solidFill>
                  <a:srgbClr val="1f2937"/>
                </a:solidFill>
                <a:latin typeface="Arial"/>
                <a:ea typeface="Arial"/>
              </a:rPr>
              <a:t>In short: it turns a raw risk score into a decision a credit officer can act on.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67;p15"/>
          <p:cNvSpPr/>
          <p:nvPr/>
        </p:nvSpPr>
        <p:spPr>
          <a:xfrm>
            <a:off x="265320" y="744480"/>
            <a:ext cx="8942760" cy="10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Opportunities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How different is it from any of the other existing ideas?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How will it be able to solve the problem?</a:t>
            </a: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USP of the proposed solution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46" name="Google Shape;68;p15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47" name="Google Shape;69;p15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48" name="TextBox 69"/>
          <p:cNvSpPr/>
          <p:nvPr/>
        </p:nvSpPr>
        <p:spPr>
          <a:xfrm>
            <a:off x="365760" y="1874520"/>
            <a:ext cx="8412120" cy="17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1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How it is different: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Most tools give only a risk score. SAARTHI adds a verified plain-English reason, a 12-month timeline, and a concrete fix for every loan — all in one common vocabulary, so any two loans are comparable.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1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How it solves the problem: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The ML model gives a calibrated default probability; SHAP finds the drivers; an AI writes the reason and the action; a second 'faithfulness judge' checks it against the evidence; and a fairness audit guards against bias.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001"/>
              </a:spcAft>
              <a:buNone/>
            </a:pPr>
            <a:r>
              <a:rPr b="1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USP: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Trustworthy, explained output — never a bare number. The AI can describe the model but is not allowed to invent it, and the single move that lowers the risk is shown as before to after.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74;p16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List of features offered by the solution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50" name="Google Shape;75;p16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51" name="Google Shape;76;p16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52" name="TextBox 76"/>
          <p:cNvSpPr/>
          <p:nvPr/>
        </p:nvSpPr>
        <p:spPr>
          <a:xfrm>
            <a:off x="365760" y="1371600"/>
            <a:ext cx="8412120" cy="23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Auto column mapping — any CSV to a fixed schema, with user override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Calibrated 12-month probability of default (PD) for every loan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Early-warning risk curve that flags the onset month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SHAP-based reasons in a fixed, comparable vocabulary (common interpretation framework)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Plain-English explanation, verified by a faithfulness judge (anti-hallucination)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Recommended action with before to after PD (recourse)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Difference-aware fairness audit — protected attributes are never used to predict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Portfolio dashboard + per-loan drill-down + model trace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Multi-provider AI gateway with automatic fail-over; honest labelling of estimates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81;p17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Process flow diagram or Use-case diagram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54" name="Google Shape;82;p17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83;p17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83" descr="process_flow.png"/>
          <p:cNvPicPr/>
          <p:nvPr/>
        </p:nvPicPr>
        <p:blipFill>
          <a:blip r:embed="rId3"/>
          <a:stretch/>
        </p:blipFill>
        <p:spPr>
          <a:xfrm>
            <a:off x="637920" y="1463040"/>
            <a:ext cx="7867800" cy="338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88;p18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Wireframes/Mock diagrams of the proposed solution (optional)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58" name="Google Shape;89;p18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59" name="Google Shape;90;p18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95;p19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Architecture diagram of the proposed solution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61" name="Google Shape;96;p19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62" name="Google Shape;97;p19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97" descr="architecture.png"/>
          <p:cNvPicPr/>
          <p:nvPr/>
        </p:nvPicPr>
        <p:blipFill>
          <a:blip r:embed="rId3"/>
          <a:stretch/>
        </p:blipFill>
        <p:spPr>
          <a:xfrm>
            <a:off x="1188720" y="1463040"/>
            <a:ext cx="6766200" cy="338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2;p20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Technologies to be used in the solution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65" name="Google Shape;103;p20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66" name="Google Shape;104;p20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67" name="TextBox 104"/>
          <p:cNvSpPr/>
          <p:nvPr/>
        </p:nvSpPr>
        <p:spPr>
          <a:xfrm>
            <a:off x="365760" y="1417320"/>
            <a:ext cx="8412120" cy="16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Frontend:  </a:t>
            </a:r>
            <a:r>
              <a:rPr b="0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React, Vite, TypeScript, Tailwind CSS, Recharts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Backend:  </a:t>
            </a:r>
            <a:r>
              <a:rPr b="0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Python, Flask, Gunicorn (async job manager)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Machine Learning:  </a:t>
            </a:r>
            <a:r>
              <a:rPr b="0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LightGBM, scikit-learn, SHAP, lifelines (survival), fairlearn, pandas, polars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AI / LLM:  </a:t>
            </a:r>
            <a:r>
              <a:rPr b="0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DeepSeek, Mistral, OpenRouter, Google Gemini (OpenAI-compatible) · pydantic + json-repair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1100"/>
              </a:spcAft>
              <a:buNone/>
            </a:pPr>
            <a:r>
              <a:rPr b="1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Hosting:  </a:t>
            </a:r>
            <a:r>
              <a:rPr b="0" lang="en-US" sz="1300" spc="-1" strike="noStrike">
                <a:solidFill>
                  <a:srgbClr val="1f2937"/>
                </a:solidFill>
                <a:latin typeface="Arial"/>
                <a:ea typeface="Arial"/>
              </a:rPr>
              <a:t>Caddy (automatic HTTPS), systemd, DuckDNS, Ubuntu server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09;p21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Estimated implementation cost (optional)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69" name="Google Shape;110;p21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70" name="Google Shape;111;p21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16;p22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Snapshots of the prototype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72" name="Google Shape;117;p22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73" name="Google Shape;118;p22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pic>
        <p:nvPicPr>
          <p:cNvPr id="74" name="Picture 118" descr="Saarthi.png"/>
          <p:cNvPicPr/>
          <p:nvPr/>
        </p:nvPicPr>
        <p:blipFill>
          <a:blip r:embed="rId3"/>
          <a:stretch/>
        </p:blipFill>
        <p:spPr>
          <a:xfrm>
            <a:off x="1415520" y="1463040"/>
            <a:ext cx="6312600" cy="338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23;p23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Prototype Performance report/Benchmarking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76" name="Google Shape;124;p23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125;p23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78" name="TextBox 125"/>
          <p:cNvSpPr/>
          <p:nvPr/>
        </p:nvSpPr>
        <p:spPr>
          <a:xfrm>
            <a:off x="365760" y="1371600"/>
            <a:ext cx="8412120" cy="162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Accuracy (AUC-ROC): 0.97 on the real SBA loan book (~900K loans); 0.68–0.79 on German &amp; MSME sets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Calibration (ECE): about 0.05 — the probabilities are reliable, not just a ranking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Explanation faithfulness: ~90–100% verified by the judge across test loans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Scale &amp; speed: scores 148K+ loans; trains in seconds; a per-loan explanation takes ~10–20s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Fairness: demographic-parity &amp; equalized-odds gaps reported per protected attribute — Pass on test data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601"/>
              </a:spcAft>
              <a:buNone/>
            </a:pP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00" spc="-1" strike="noStrike">
                <a:solidFill>
                  <a:srgbClr val="1f2937"/>
                </a:solidFill>
                <a:latin typeface="Arial"/>
                <a:ea typeface="Arial"/>
              </a:rPr>
              <a:t>Reliability: 33/33 automated end-to-end checks and 12/12 live API checks pass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30;p24"/>
          <p:cNvSpPr/>
          <p:nvPr/>
        </p:nvSpPr>
        <p:spPr>
          <a:xfrm>
            <a:off x="265320" y="744480"/>
            <a:ext cx="894276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Additional Details/Future Development (if any)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80" name="Google Shape;131;p24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81" name="Google Shape;132;p24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  <p:sp>
        <p:nvSpPr>
          <p:cNvPr id="82" name="TextBox 132"/>
          <p:cNvSpPr/>
          <p:nvPr/>
        </p:nvSpPr>
        <p:spPr>
          <a:xfrm>
            <a:off x="365760" y="1371600"/>
            <a:ext cx="8412120" cy="14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Integration with bank core / loan-origination systems and scheduled portfolio re-scoring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Role-based access and on-premise / private deployment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More models (TabPFN, XGBoost) and automatic data-drift monitoring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Regulator-ready audit logs and exportable reason reports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5000"/>
              </a:lnSpc>
              <a:spcAft>
                <a:spcPts val="700"/>
              </a:spcAft>
              <a:buNone/>
            </a:pP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•  </a:t>
            </a:r>
            <a:r>
              <a:rPr b="0" lang="en-US" sz="1250" spc="-1" strike="noStrike">
                <a:solidFill>
                  <a:srgbClr val="1f2937"/>
                </a:solidFill>
                <a:latin typeface="Arial"/>
                <a:ea typeface="Arial"/>
              </a:rPr>
              <a:t>Research paper on the capability-diverse faithfulness judge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37;p25"/>
          <p:cNvSpPr/>
          <p:nvPr/>
        </p:nvSpPr>
        <p:spPr>
          <a:xfrm>
            <a:off x="265320" y="744480"/>
            <a:ext cx="8942760" cy="12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Provide links to your: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GitHub Public Repository</a:t>
            </a:r>
            <a:r>
              <a:rPr b="0" lang="en-GB" sz="1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"/>
              </a:rPr>
              <a:t>:  https://github.com/DevDaring/IDBI_SAARTHI</a:t>
            </a:r>
            <a:endParaRPr b="0" lang="en-US" sz="12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Demo Video Link (3 Minutes)</a:t>
            </a:r>
            <a:r>
              <a:rPr b="0" lang="en-GB" sz="1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:  https://youtu.be/-HglTjzO5qc</a:t>
            </a:r>
            <a:endParaRPr b="0" lang="en-US" sz="12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  <a:ea typeface="Arial"/>
              </a:rPr>
              <a:t>Final Product Link</a:t>
            </a:r>
            <a:r>
              <a:rPr b="0" lang="en-GB" sz="1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3"/>
              </a:rPr>
              <a:t>:  https://koushikdeb.duckdns.org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  <p:pic>
        <p:nvPicPr>
          <p:cNvPr id="84" name="Google Shape;138;p25" descr=""/>
          <p:cNvPicPr/>
          <p:nvPr/>
        </p:nvPicPr>
        <p:blipFill>
          <a:blip r:embed="rId4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39;p25" descr=""/>
          <p:cNvPicPr/>
          <p:nvPr/>
        </p:nvPicPr>
        <p:blipFill>
          <a:blip r:embed="rId5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144;p26" descr=""/>
          <p:cNvPicPr/>
          <p:nvPr/>
        </p:nvPicPr>
        <p:blipFill>
          <a:blip r:embed="rId1"/>
          <a:srcRect l="0" t="0" r="0" b="88448"/>
          <a:stretch/>
        </p:blipFill>
        <p:spPr>
          <a:xfrm>
            <a:off x="0" y="0"/>
            <a:ext cx="9143640" cy="59328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145;p26" descr=""/>
          <p:cNvPicPr/>
          <p:nvPr/>
        </p:nvPicPr>
        <p:blipFill>
          <a:blip r:embed="rId2"/>
          <a:srcRect l="0" t="98065" r="0" b="0"/>
          <a:stretch/>
        </p:blipFill>
        <p:spPr>
          <a:xfrm>
            <a:off x="0" y="5044680"/>
            <a:ext cx="9143640" cy="9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pic>
        <p:nvPicPr>
          <p:cNvPr id="90" name="Google Shape;152;p27" descr="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2026-07-05T17:40:29Z</dcterms:modified>
  <cp:revision>1</cp:revision>
  <dc:subject/>
  <dc:title/>
</cp:coreProperties>
</file>